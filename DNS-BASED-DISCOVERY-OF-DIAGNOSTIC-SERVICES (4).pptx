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Mono"/>
      <p:regular r:id="rId201314"/>
    </p:embeddedFont>
    <p:embeddedFont>
      <p:font typeface="IBM Plex Mono Medium"/>
      <p:regular r:id="rId201315"/>
    </p:embeddedFont>
    <p:embeddedFont>
      <p:font typeface="IBM Plex Mono SemiBold"/>
      <p:regular r:id="rId201316"/>
    </p:embeddedFont>
    <p:embeddedFont>
      <p:font typeface="IBM Plex Mono Bold"/>
      <p:regular r:id="rId201317"/>
    </p:embeddedFont>
    <p:embeddedFont>
      <p:font typeface="Public Sans"/>
      <p:regular r:id="rId201318"/>
    </p:embeddedFont>
    <p:embeddedFont>
      <p:font typeface="Public Sans SemiBold"/>
      <p:regular r:id="rId201319"/>
    </p:embeddedFont>
    <p:embeddedFont>
      <p:font typeface="Public Sans Bold"/>
      <p:regular r:id="rId201320"/>
    </p:embeddedFont>
    <p:embeddedFont>
      <p:font typeface="Sofia Sans Extra Condensed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413000"/>
            <a:ext cx="8254793" cy="2968526"/>
          </a:xfrm>
          <a:prstGeom prst="rect">
            <a:avLst/>
          </a:prstGeom>
          <a:solidFill>
            <a:srgbClr val="F5F4EF"/>
          </a:solidFill>
          <a:ln/>
        </p:spPr>
      </p:sp>
      <p:sp>
        <p:nvSpPr>
          <p:cNvPr id="3" name="Shape 1"/>
          <p:cNvSpPr/>
          <p:nvPr/>
        </p:nvSpPr>
        <p:spPr>
          <a:xfrm>
            <a:off x="990575" y="2790825"/>
            <a:ext cx="1873203" cy="57150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</p:sp>
      <p:sp>
        <p:nvSpPr>
          <p:cNvPr id="4" name="Text 2"/>
          <p:cNvSpPr/>
          <p:nvPr/>
        </p:nvSpPr>
        <p:spPr>
          <a:xfrm>
            <a:off x="990575" y="3203575"/>
            <a:ext cx="749281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000" spc="-50" kern="1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DNS-BASED DISCOVERY</a:t>
            </a:r>
            <a:endParaRPr lang="en-US" sz="5000" dirty="0"/>
          </a:p>
          <a:p>
            <a:pPr algn="l" indent="0" marL="0">
              <a:lnSpc>
                <a:spcPct val="72000"/>
              </a:lnSpc>
              <a:buNone/>
            </a:pPr>
            <a:r>
              <a:rPr lang="en-US" sz="5000" spc="-50" kern="100" dirty="0">
                <a:solidFill>
                  <a:srgbClr val="000000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OF DIAGNOSTIC SERVICES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90575" y="4396740"/>
            <a:ext cx="810239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Tech Builders · PS033   TC407 · AIORI Hackathon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575" y="4851340"/>
            <a:ext cx="81023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8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[TEAMM MEMBER NAME: SARANSH AGRWAL, SUMIT KUMAR.] · CONTACT:6378311264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3" name="Shape 1"/>
          <p:cNvSpPr/>
          <p:nvPr/>
        </p:nvSpPr>
        <p:spPr>
          <a:xfrm>
            <a:off x="355591" y="2346821"/>
            <a:ext cx="1142971" cy="38100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</p:sp>
      <p:sp>
        <p:nvSpPr>
          <p:cNvPr id="4" name="Text 2"/>
          <p:cNvSpPr/>
          <p:nvPr/>
        </p:nvSpPr>
        <p:spPr>
          <a:xfrm>
            <a:off x="355591" y="2597821"/>
            <a:ext cx="4571886" cy="59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5200" spc="-5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55591" y="3225373"/>
            <a:ext cx="4927477" cy="130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47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DESCRIPTION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5591" y="3498670"/>
            <a:ext cx="4571886" cy="59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HEALTHCARE APPS STRUGGLE TO FIND THE RIGHT DIAGNOSTIC ENDPOINT.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55591" y="4157170"/>
            <a:ext cx="4571886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Information is fragmented, inconsistent, and difficult to trust.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89458" y="480756"/>
            <a:ext cx="5994250" cy="381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15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1. PROBLEM DESCRIPTION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5689458" y="927516"/>
            <a:ext cx="6502237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Diagnostic-service discovery is fragmented before the clinical connection even begins.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89458" y="1164332"/>
            <a:ext cx="77408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06354" y="1153748"/>
            <a:ext cx="5677353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Fragmented service information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06354" y="1451788"/>
            <a:ext cx="5677353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Cause: diagnostic endpoints are listed across directories, websites, and documents with no single discovery point. Impact: applications must search manually before any connection begin.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89458" y="2406749"/>
            <a:ext cx="77408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06354" y="2396165"/>
            <a:ext cx="5677353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Inconsistent identifiers and metadata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06354" y="2694206"/>
            <a:ext cx="5677353" cy="3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Cause: service names, capabilities, and coverage follow no shared schema. Impact: clients cannot reliably compare or select the right service.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89458" y="3486249"/>
            <a:ext cx="77408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06354" y="3475665"/>
            <a:ext cx="5677353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Stale or unavailable endpoints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06354" y="3773706"/>
            <a:ext cx="5677353" cy="3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Cause: records are not verified or refreshed. Impact: integrations break or are directed to a wrong or offline service.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89458" y="4565749"/>
            <a:ext cx="77408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06354" y="4555165"/>
            <a:ext cx="5677353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Trust and privacy risk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06354" y="4853206"/>
            <a:ext cx="5677353" cy="3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Cause: endpoint authenticity and data-sharing scope are hard to confirm before use. Impact: unverified services may receive sensitive patient or clinical data.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89458" y="5835749"/>
            <a:ext cx="774085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06354" y="5825165"/>
            <a:ext cx="5677353" cy="23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Interoperability difficulty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06354" y="6123206"/>
            <a:ext cx="5677353" cy="3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Cause: each integration needs custom lookup logic. Impact: slower onboarding and higher integration effort for every new application.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89458" y="2157909"/>
            <a:ext cx="5994250" cy="12700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9458" y="3237409"/>
            <a:ext cx="5994250" cy="12700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27" name="Shape 25"/>
          <p:cNvSpPr/>
          <p:nvPr/>
        </p:nvSpPr>
        <p:spPr>
          <a:xfrm>
            <a:off x="5689458" y="4316909"/>
            <a:ext cx="5994250" cy="12700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28" name="Shape 26"/>
          <p:cNvSpPr/>
          <p:nvPr/>
        </p:nvSpPr>
        <p:spPr>
          <a:xfrm>
            <a:off x="5689458" y="5586909"/>
            <a:ext cx="5994250" cy="12700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29" name="Text 27"/>
          <p:cNvSpPr/>
          <p:nvPr/>
        </p:nvSpPr>
        <p:spPr>
          <a:xfrm>
            <a:off x="11856642" y="6540500"/>
            <a:ext cx="33505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6807030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2. BACKGROUND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137245"/>
            <a:ext cx="68070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Discovery answers one narrow question: where can an application connect for a diagnostic service?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189" y="3971330"/>
            <a:ext cx="3365416" cy="2429470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4206915"/>
            <a:ext cx="313682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 TYPES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783" y="4545013"/>
            <a:ext cx="29082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spc="-38" kern="100" dirty="0">
                <a:solidFill>
                  <a:srgbClr val="2A313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Diagnostic-service endpoints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783" y="5105400"/>
            <a:ext cx="290822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Healthcare applications often need to locate a laboratory or imaging- center endpoint before they can use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98802" y="3971330"/>
            <a:ext cx="3365416" cy="2429470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9" name="Text 7"/>
          <p:cNvSpPr/>
          <p:nvPr/>
        </p:nvSpPr>
        <p:spPr>
          <a:xfrm>
            <a:off x="4127397" y="4206915"/>
            <a:ext cx="313682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PROTOTYPE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27397" y="4545013"/>
            <a:ext cx="29082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spc="-38" kern="100" dirty="0">
                <a:solidFill>
                  <a:srgbClr val="2A313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Provider and service metadata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27397" y="5105400"/>
            <a:ext cx="290822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prototype focuses on provider and service metadata, not diagnosis, treatment, reports, or patient records.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13" name="Text 11"/>
          <p:cNvSpPr/>
          <p:nvPr/>
        </p:nvSpPr>
        <p:spPr>
          <a:xfrm>
            <a:off x="8102397" y="440531"/>
            <a:ext cx="408929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BOUNDARY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02397" y="732472"/>
            <a:ext cx="3708307" cy="329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DISCOVER</a:t>
            </a:r>
            <a:endParaRPr lang="en-US" sz="72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FIRST.</a:t>
            </a:r>
            <a:endParaRPr lang="en-US" sz="72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EXCHANGE</a:t>
            </a:r>
            <a:endParaRPr lang="en-US" sz="7200" dirty="0"/>
          </a:p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SECURELY.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8102397" y="5626100"/>
            <a:ext cx="370830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Discovery should be separated from authorized exchange of patient or clinical data.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53169" y="6540500"/>
            <a:ext cx="33852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3" name="Shape 1"/>
          <p:cNvSpPr/>
          <p:nvPr/>
        </p:nvSpPr>
        <p:spPr>
          <a:xfrm>
            <a:off x="457189" y="2696567"/>
            <a:ext cx="685783" cy="57150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3121065"/>
            <a:ext cx="2743131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189" y="4034472"/>
            <a:ext cx="32003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66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LITERATURE &amp; RFC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697" y="491173"/>
            <a:ext cx="7619809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3. LITERATURE &amp; RFC REVIEW</a:t>
            </a:r>
            <a:endParaRPr lang="en-US" sz="4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697" y="1137245"/>
          <a:ext cx="7619810" cy="914400"/>
        </p:xfrm>
        <a:graphic>
          <a:graphicData uri="http://schemas.openxmlformats.org/drawingml/2006/table">
            <a:tbl>
              <a:tblPr/>
              <a:tblGrid>
                <a:gridCol w="2438339"/>
                <a:gridCol w="5181470"/>
              </a:tblGrid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61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Reference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61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What it contributes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88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RFC 6763 — DNS-Based Service Discovery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Defines a DNS-based mechanism for discovering named service instances using standard DNS queries.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HL7 FHIR — Endpoint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Describes the technical details and secure connection location for electronic services.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 Vinci HREX — Endpoint discovery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Documents an endpoint-discovery strategy for FHIR-based health-record exchange.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Design implication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Use DNS for compact naming and resolution, with an API or directory for richer diagnostic-service metadata.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852772" y="6540500"/>
            <a:ext cx="3389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715"/>
            <a:ext cx="11734506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61" kern="100" dirty="0">
                <a:solidFill>
                  <a:srgbClr val="56606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PS033 · 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189" y="690175"/>
            <a:ext cx="11277318" cy="332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75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4. PROPOSED SOLUTION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57189" y="1118848"/>
            <a:ext cx="1127731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DNS-inspired discovery layer maps a diagnostic-service identifier to validated endpoint metadata.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189" y="2743200"/>
            <a:ext cx="7929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189" y="2988171"/>
            <a:ext cx="2019249" cy="1905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3066549"/>
            <a:ext cx="2019249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Provider registration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189" y="3402673"/>
            <a:ext cx="2019249" cy="40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Provider submits service metadata.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43211" y="2743200"/>
            <a:ext cx="8277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43211" y="2988171"/>
            <a:ext cx="2019249" cy="1905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11" name="Text 9"/>
          <p:cNvSpPr/>
          <p:nvPr/>
        </p:nvSpPr>
        <p:spPr>
          <a:xfrm>
            <a:off x="3543211" y="3066549"/>
            <a:ext cx="2019249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Registry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43211" y="3402673"/>
            <a:ext cx="2019249" cy="40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 record stored as the trusted source.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234" y="2743200"/>
            <a:ext cx="8325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234" y="2988171"/>
            <a:ext cx="2019249" cy="1905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234" y="3066549"/>
            <a:ext cx="2019249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Resolver / API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29234" y="3402673"/>
            <a:ext cx="2019249" cy="40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Accepts a service ID and optional filters.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15257" y="2743200"/>
            <a:ext cx="8318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756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15257" y="2988171"/>
            <a:ext cx="2019249" cy="1905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257" y="3066549"/>
            <a:ext cx="2019249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Client application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715257" y="3402673"/>
            <a:ext cx="2019249" cy="40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Connects to the provider’s secured interface.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189" y="5036715"/>
            <a:ext cx="548626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61" kern="100" dirty="0">
                <a:solidFill>
                  <a:srgbClr val="56606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LOOKUP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189" y="5305294"/>
            <a:ext cx="5029074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Client sends service ID → Resolver queries Registry → Registry returns validated metadata → Client connects to the provider endpoint.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189" y="6127328"/>
            <a:ext cx="548626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61" kern="100" dirty="0">
                <a:solidFill>
                  <a:srgbClr val="566064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METADATA RETURNED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189" y="6395906"/>
            <a:ext cx="502907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 endpoint metadata for the requested service identifier, used to select eligible endpoints.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48244" y="4572000"/>
            <a:ext cx="5943451" cy="228600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26" name="Text 24"/>
          <p:cNvSpPr/>
          <p:nvPr/>
        </p:nvSpPr>
        <p:spPr>
          <a:xfrm>
            <a:off x="6705432" y="5036715"/>
            <a:ext cx="548626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61" kern="1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05432" y="5246676"/>
            <a:ext cx="5029074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Discovery is not data exchange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705432" y="5633906"/>
            <a:ext cx="502907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Discovery returns eligible endpoints only; it does not exchange patient data.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05432" y="6214830"/>
            <a:ext cx="5029074" cy="40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Clinical data moves only over the provider’s secured interface. Security and monitoring span all four layers.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50986" y="6540500"/>
            <a:ext cx="3407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1127731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5. OPTIMIZATION PROPOSED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137245"/>
            <a:ext cx="11734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Move from fragmented, inconsistent lookup to structured, freshness-aware discovery.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537295"/>
          <a:ext cx="11277318" cy="914400"/>
        </p:xfrm>
        <a:graphic>
          <a:graphicData uri="http://schemas.openxmlformats.org/drawingml/2006/table">
            <a:tbl>
              <a:tblPr/>
              <a:tblGrid>
                <a:gridCol w="5638659"/>
                <a:gridCol w="5638659"/>
              </a:tblGrid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BEFORE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007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5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AFTER OPTIMIZATION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7E0"/>
                    </a:solidFill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Scattered service addresses across directories and documents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One structured registry and resolver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Inconsistent names and metadata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Shared service identifiers and schema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Stale endpoints are hard to detect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Status, expiry, and freshness fields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Discovery mixed with data exchange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Discovery separated from secured provider APIs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DNS expected to carry rich records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313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Compact DNS naming plus API/directory metadata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854161" y="6540500"/>
            <a:ext cx="33753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1127731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6. SOLUTION ARCHITECTURE &amp; DESIGN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137245"/>
            <a:ext cx="11734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Architecture UML Diagram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626" y="1537295"/>
            <a:ext cx="7362442" cy="317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11897" y="1909866"/>
            <a:ext cx="4048787" cy="21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REGISTER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911897" y="2646111"/>
            <a:ext cx="4048787" cy="21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VALIDATE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911897" y="3374994"/>
            <a:ext cx="4048787" cy="21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RESOLVE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11897" y="4103877"/>
            <a:ext cx="4048787" cy="211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CONNECT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189" y="4845546"/>
            <a:ext cx="5486263" cy="990600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10" name="Text 7"/>
          <p:cNvSpPr/>
          <p:nvPr/>
        </p:nvSpPr>
        <p:spPr>
          <a:xfrm>
            <a:off x="685783" y="5074146"/>
            <a:ext cx="502907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Registry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stores service type, endpoint, interface, region, status, and expiry metadata.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48244" y="4845546"/>
            <a:ext cx="5486263" cy="990600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12" name="Text 9"/>
          <p:cNvSpPr/>
          <p:nvPr/>
        </p:nvSpPr>
        <p:spPr>
          <a:xfrm>
            <a:off x="6476838" y="5074146"/>
            <a:ext cx="502907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Resolver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returns structured matches and excludes inactive or expired records.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58428" y="6540500"/>
            <a:ext cx="33326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5859"/>
            <a:ext cx="11277318" cy="4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5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7. DATA FLOW DIAGRAM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457189" y="974017"/>
            <a:ext cx="11734506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lookup travels from a service request to an authorized provider connection.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679" y="1239838"/>
            <a:ext cx="7350239" cy="317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75963" y="1526495"/>
            <a:ext cx="1090406" cy="16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Client Query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775963" y="1769818"/>
            <a:ext cx="1090406" cy="47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Send service ID and optional filters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72467" y="3490148"/>
            <a:ext cx="1090406" cy="16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 Request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72467" y="3733471"/>
            <a:ext cx="1090406" cy="318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 format, auth, and filters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91020" y="1526495"/>
            <a:ext cx="1090406" cy="16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Registry Search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591020" y="1769818"/>
            <a:ext cx="1090406" cy="318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 matching service entries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80174" y="3490148"/>
            <a:ext cx="1090405" cy="16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Eligibility Filter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80174" y="3733471"/>
            <a:ext cx="1090405" cy="318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Apply status and expiry rules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32577" y="1526495"/>
            <a:ext cx="1090406" cy="33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Respond &amp; Connect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332577" y="1936805"/>
            <a:ext cx="1090406" cy="47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endpoint then authorize connection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189" y="4733332"/>
            <a:ext cx="2819329" cy="1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52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189" y="4955555"/>
            <a:ext cx="2590735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Service ID + filters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05112" y="4733332"/>
            <a:ext cx="2590735" cy="1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52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505112" y="4955555"/>
            <a:ext cx="2362141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 · search · filter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24442" y="4733332"/>
            <a:ext cx="2590735" cy="1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52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24442" y="4955555"/>
            <a:ext cx="2362141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6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URI + metadata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915177" y="4497685"/>
            <a:ext cx="2819329" cy="899815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22" name="Text 19"/>
          <p:cNvSpPr/>
          <p:nvPr/>
        </p:nvSpPr>
        <p:spPr>
          <a:xfrm>
            <a:off x="9143771" y="4733332"/>
            <a:ext cx="2590735" cy="1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52" kern="100" dirty="0">
                <a:solidFill>
                  <a:srgbClr val="2A313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BOUNDARY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143771" y="4955555"/>
            <a:ext cx="2362141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clinical data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189" y="5480447"/>
            <a:ext cx="11277318" cy="1382911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25" name="Text 22"/>
          <p:cNvSpPr/>
          <p:nvPr/>
        </p:nvSpPr>
        <p:spPr>
          <a:xfrm>
            <a:off x="812780" y="5690224"/>
            <a:ext cx="10566136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00756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Security &amp; Privacy Boundary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812780" y="6048276"/>
            <a:ext cx="5054474" cy="611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Registry writes are protected; only authorized updates are accepted</a:t>
            </a:r>
            <a:endParaRPr lang="en-US" sz="1200" dirty="0"/>
          </a:p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 checks format, auth, and filters before lookup</a:t>
            </a:r>
            <a:endParaRPr lang="en-US" sz="1200" dirty="0"/>
          </a:p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Expiry and status checks run before any endpoint is returned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24442" y="6048276"/>
            <a:ext cx="5054474" cy="611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Synthetic data only; no patient identifiers, reports, or results</a:t>
            </a:r>
            <a:endParaRPr lang="en-US" sz="1200" dirty="0"/>
          </a:p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Auditability where feasible</a:t>
            </a:r>
            <a:endParaRPr lang="en-US" sz="1200" dirty="0"/>
          </a:p>
          <a:p>
            <a:pPr algn="l" marL="243840" indent="-243840">
              <a:lnSpc>
                <a:spcPct val="104000"/>
              </a:lnSpc>
              <a:buSzPct val="100000"/>
              <a:buChar char="•"/>
            </a:pPr>
            <a:r>
              <a:rPr lang="en-US" sz="12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Discoverability does not certify provider quality or clinical safety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70168" y="4497685"/>
            <a:ext cx="12700" cy="899815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29" name="Shape 26"/>
          <p:cNvSpPr/>
          <p:nvPr/>
        </p:nvSpPr>
        <p:spPr>
          <a:xfrm>
            <a:off x="6089498" y="4497685"/>
            <a:ext cx="12700" cy="899815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30" name="Shape 27"/>
          <p:cNvSpPr/>
          <p:nvPr/>
        </p:nvSpPr>
        <p:spPr>
          <a:xfrm>
            <a:off x="8908827" y="4497685"/>
            <a:ext cx="12700" cy="899815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31" name="Text 28"/>
          <p:cNvSpPr/>
          <p:nvPr/>
        </p:nvSpPr>
        <p:spPr>
          <a:xfrm>
            <a:off x="11850986" y="6540500"/>
            <a:ext cx="3407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00756A"/>
          </a:solidFill>
          <a:ln/>
        </p:spPr>
      </p:sp>
      <p:sp>
        <p:nvSpPr>
          <p:cNvPr id="3" name="Shape 1"/>
          <p:cNvSpPr/>
          <p:nvPr/>
        </p:nvSpPr>
        <p:spPr>
          <a:xfrm>
            <a:off x="457189" y="2889845"/>
            <a:ext cx="380990" cy="50701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3184332"/>
            <a:ext cx="1523962" cy="641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5600" spc="-56" kern="100" dirty="0">
                <a:solidFill>
                  <a:srgbClr val="FFFFFF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08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189" y="3869670"/>
            <a:ext cx="198115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51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DEPLOYMENT TIMELINE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95528" y="482363"/>
            <a:ext cx="8838979" cy="4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45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8. DEPLOYMENT TIMELINE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2895528" y="2551212"/>
            <a:ext cx="8838979" cy="19050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8" name="Shape 6"/>
          <p:cNvSpPr/>
          <p:nvPr/>
        </p:nvSpPr>
        <p:spPr>
          <a:xfrm>
            <a:off x="4082452" y="2105918"/>
            <a:ext cx="19050" cy="445294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9" name="Shape 7"/>
          <p:cNvSpPr/>
          <p:nvPr/>
        </p:nvSpPr>
        <p:spPr>
          <a:xfrm>
            <a:off x="4036316" y="2495550"/>
            <a:ext cx="111321" cy="111323"/>
          </a:xfrm>
          <a:prstGeom prst="ellipse">
            <a:avLst/>
          </a:prstGeom>
          <a:solidFill>
            <a:srgbClr val="00756A"/>
          </a:solidFill>
          <a:ln/>
        </p:spPr>
      </p:sp>
      <p:sp>
        <p:nvSpPr>
          <p:cNvPr id="10" name="Shape 8"/>
          <p:cNvSpPr/>
          <p:nvPr/>
        </p:nvSpPr>
        <p:spPr>
          <a:xfrm>
            <a:off x="2895528" y="951805"/>
            <a:ext cx="2392898" cy="969268"/>
          </a:xfrm>
          <a:prstGeom prst="roundRect">
            <a:avLst>
              <a:gd name="adj" fmla="val 2297"/>
            </a:avLst>
          </a:prstGeom>
          <a:solidFill>
            <a:srgbClr val="EAE8DC"/>
          </a:solidFill>
          <a:ln/>
        </p:spPr>
      </p:sp>
      <p:sp>
        <p:nvSpPr>
          <p:cNvPr id="11" name="Text 9"/>
          <p:cNvSpPr/>
          <p:nvPr/>
        </p:nvSpPr>
        <p:spPr>
          <a:xfrm>
            <a:off x="3043905" y="1100237"/>
            <a:ext cx="209604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PHASE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43955" y="1402953"/>
            <a:ext cx="2096043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Agree schema, identifiers, scope, and response format.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71668" y="2551212"/>
            <a:ext cx="19050" cy="445294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14" name="Shape 12"/>
          <p:cNvSpPr/>
          <p:nvPr/>
        </p:nvSpPr>
        <p:spPr>
          <a:xfrm>
            <a:off x="5325532" y="2495550"/>
            <a:ext cx="111321" cy="111323"/>
          </a:xfrm>
          <a:prstGeom prst="ellipse">
            <a:avLst/>
          </a:prstGeom>
          <a:solidFill>
            <a:srgbClr val="00756A"/>
          </a:solidFill>
          <a:ln/>
        </p:spPr>
      </p:sp>
      <p:sp>
        <p:nvSpPr>
          <p:cNvPr id="15" name="Shape 13"/>
          <p:cNvSpPr/>
          <p:nvPr/>
        </p:nvSpPr>
        <p:spPr>
          <a:xfrm>
            <a:off x="4184744" y="2996505"/>
            <a:ext cx="2392898" cy="969268"/>
          </a:xfrm>
          <a:prstGeom prst="roundRect">
            <a:avLst>
              <a:gd name="adj" fmla="val 2297"/>
            </a:avLst>
          </a:prstGeom>
          <a:solidFill>
            <a:srgbClr val="EAE8DC"/>
          </a:solidFill>
          <a:ln/>
        </p:spPr>
      </p:sp>
      <p:sp>
        <p:nvSpPr>
          <p:cNvPr id="16" name="Text 14"/>
          <p:cNvSpPr/>
          <p:nvPr/>
        </p:nvSpPr>
        <p:spPr>
          <a:xfrm>
            <a:off x="4333122" y="3144937"/>
            <a:ext cx="209604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PHASE 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33171" y="3447653"/>
            <a:ext cx="2096043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Seed a synthetic registry; validate records.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60884" y="2105918"/>
            <a:ext cx="19050" cy="445294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19" name="Shape 17"/>
          <p:cNvSpPr/>
          <p:nvPr/>
        </p:nvSpPr>
        <p:spPr>
          <a:xfrm>
            <a:off x="6614749" y="2495550"/>
            <a:ext cx="111321" cy="111323"/>
          </a:xfrm>
          <a:prstGeom prst="ellipse">
            <a:avLst/>
          </a:prstGeom>
          <a:solidFill>
            <a:srgbClr val="00756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73960" y="951805"/>
            <a:ext cx="2392898" cy="1154112"/>
          </a:xfrm>
          <a:prstGeom prst="roundRect">
            <a:avLst>
              <a:gd name="adj" fmla="val 1929"/>
            </a:avLst>
          </a:prstGeom>
          <a:solidFill>
            <a:srgbClr val="EAE8DC"/>
          </a:solidFill>
          <a:ln/>
        </p:spPr>
      </p:sp>
      <p:sp>
        <p:nvSpPr>
          <p:cNvPr id="21" name="Text 19"/>
          <p:cNvSpPr/>
          <p:nvPr/>
        </p:nvSpPr>
        <p:spPr>
          <a:xfrm>
            <a:off x="5622338" y="1100237"/>
            <a:ext cx="209604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PHASE 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22387" y="1402953"/>
            <a:ext cx="2096043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 lookup, filtering, expiry handling, and error responses.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50100" y="2551212"/>
            <a:ext cx="19050" cy="445294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24" name="Shape 22"/>
          <p:cNvSpPr/>
          <p:nvPr/>
        </p:nvSpPr>
        <p:spPr>
          <a:xfrm>
            <a:off x="7903965" y="2495550"/>
            <a:ext cx="111321" cy="111323"/>
          </a:xfrm>
          <a:prstGeom prst="ellipse">
            <a:avLst/>
          </a:prstGeom>
          <a:solidFill>
            <a:srgbClr val="0075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3176" y="2996505"/>
            <a:ext cx="2392898" cy="969268"/>
          </a:xfrm>
          <a:prstGeom prst="roundRect">
            <a:avLst>
              <a:gd name="adj" fmla="val 2297"/>
            </a:avLst>
          </a:prstGeom>
          <a:solidFill>
            <a:srgbClr val="EAE8DC"/>
          </a:solidFill>
          <a:ln/>
        </p:spPr>
      </p:sp>
      <p:sp>
        <p:nvSpPr>
          <p:cNvPr id="26" name="Text 24"/>
          <p:cNvSpPr/>
          <p:nvPr/>
        </p:nvSpPr>
        <p:spPr>
          <a:xfrm>
            <a:off x="6911554" y="3144937"/>
            <a:ext cx="209604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PHASE 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11604" y="3447653"/>
            <a:ext cx="2096043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a lightweight client and reproducible README.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39317" y="2105918"/>
            <a:ext cx="19050" cy="445294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29" name="Shape 27"/>
          <p:cNvSpPr/>
          <p:nvPr/>
        </p:nvSpPr>
        <p:spPr>
          <a:xfrm>
            <a:off x="9193181" y="2495550"/>
            <a:ext cx="111321" cy="111323"/>
          </a:xfrm>
          <a:prstGeom prst="ellipse">
            <a:avLst/>
          </a:prstGeom>
          <a:solidFill>
            <a:srgbClr val="00756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52392" y="951805"/>
            <a:ext cx="2392898" cy="1154112"/>
          </a:xfrm>
          <a:prstGeom prst="roundRect">
            <a:avLst>
              <a:gd name="adj" fmla="val 1929"/>
            </a:avLst>
          </a:prstGeom>
          <a:solidFill>
            <a:srgbClr val="EAE8DC"/>
          </a:solidFill>
          <a:ln/>
        </p:spPr>
      </p:sp>
      <p:sp>
        <p:nvSpPr>
          <p:cNvPr id="31" name="Text 29"/>
          <p:cNvSpPr/>
          <p:nvPr/>
        </p:nvSpPr>
        <p:spPr>
          <a:xfrm>
            <a:off x="8200770" y="1100237"/>
            <a:ext cx="209604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PHASE 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00820" y="1402953"/>
            <a:ext cx="2096043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known, unknown, expired, malformed, and unauthorized cases.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528533" y="2551212"/>
            <a:ext cx="19050" cy="445294"/>
          </a:xfrm>
          <a:prstGeom prst="roundRect">
            <a:avLst>
              <a:gd name="adj" fmla="val 49999"/>
            </a:avLst>
          </a:prstGeom>
          <a:solidFill>
            <a:srgbClr val="D0CEC2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82397" y="2495550"/>
            <a:ext cx="111321" cy="111323"/>
          </a:xfrm>
          <a:prstGeom prst="ellipse">
            <a:avLst/>
          </a:prstGeom>
          <a:solidFill>
            <a:srgbClr val="00756A"/>
          </a:solidFill>
          <a:ln/>
        </p:spPr>
      </p:sp>
      <p:sp>
        <p:nvSpPr>
          <p:cNvPr id="35" name="Shape 33"/>
          <p:cNvSpPr/>
          <p:nvPr/>
        </p:nvSpPr>
        <p:spPr>
          <a:xfrm>
            <a:off x="9341608" y="2996505"/>
            <a:ext cx="2392898" cy="1154112"/>
          </a:xfrm>
          <a:prstGeom prst="roundRect">
            <a:avLst>
              <a:gd name="adj" fmla="val 1929"/>
            </a:avLst>
          </a:prstGeom>
          <a:solidFill>
            <a:srgbClr val="EAE8DC"/>
          </a:solidFill>
          <a:ln/>
        </p:spPr>
      </p:sp>
      <p:sp>
        <p:nvSpPr>
          <p:cNvPr id="36" name="Text 34"/>
          <p:cNvSpPr/>
          <p:nvPr/>
        </p:nvSpPr>
        <p:spPr>
          <a:xfrm>
            <a:off x="9489986" y="3144937"/>
            <a:ext cx="2096043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A3134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PHASE 6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490036" y="3447653"/>
            <a:ext cx="2096043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real screenshots, measured results, limitations, and submission evidence.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895528" y="4231580"/>
            <a:ext cx="8838979" cy="2711053"/>
          </a:xfrm>
          <a:prstGeom prst="rect">
            <a:avLst/>
          </a:prstGeom>
          <a:solidFill>
            <a:srgbClr val="E8E7E0"/>
          </a:solidFill>
          <a:ln/>
        </p:spPr>
      </p:sp>
      <p:sp>
        <p:nvSpPr>
          <p:cNvPr id="39" name="Text 37"/>
          <p:cNvSpPr/>
          <p:nvPr/>
        </p:nvSpPr>
        <p:spPr>
          <a:xfrm>
            <a:off x="3301917" y="4594658"/>
            <a:ext cx="8026199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756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Prototype Testing Plan &amp; Evaluation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3301917" y="4946452"/>
            <a:ext cx="8026199" cy="1640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Known service: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expected endpoint returned — [result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Unknown service: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not-found handled cleanly — [result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Expired record: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flagged or rejected — [result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Malformed input: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validation error returned — [result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Unauthorized update: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registry write blocked — [result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Lookup correctness: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matched cases / total — [result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Average / p95 latency: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[ms pending]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Reproducibility:</a:t>
            </a:r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README steps rerun on a clean setup — [result pending]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853864" y="6540500"/>
            <a:ext cx="33783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173"/>
            <a:ext cx="1127731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4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9. BIBLIOGRAPHY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189" y="117534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179" y="1137245"/>
            <a:ext cx="108963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Cheshire, S.;  Krochmal, M.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“DNS-Based Service Discovery.” RFC 6763, IETF, 2013.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189" y="202813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179" y="1990030"/>
            <a:ext cx="108963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HL7 International.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“Endpoint - FHIR v3.0.2.” FHIR Specification.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189" y="28809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179" y="2842816"/>
            <a:ext cx="108963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HL7 International.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“Endpoint Discovery Strategy - Da Vinci Health Record Exchange.” v1.2.0.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189" y="37338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0075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179" y="3695700"/>
            <a:ext cx="108963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A313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Tech Builders.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A313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“DNS-Based Discovery of Diagnostic Services — PS033 Project Proposal.” AIORI-3 Hackathon 3.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189" y="5349280"/>
            <a:ext cx="2819329" cy="57150"/>
          </a:xfrm>
          <a:prstGeom prst="roundRect">
            <a:avLst>
              <a:gd name="adj" fmla="val 49999"/>
            </a:avLst>
          </a:prstGeom>
          <a:solidFill>
            <a:srgbClr val="00756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189" y="5731867"/>
            <a:ext cx="1127731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000" dirty="0">
                <a:solidFill>
                  <a:srgbClr val="111618"/>
                </a:solidFill>
                <a:latin typeface="Sofia Sans Extra Condensed ExtraBold" pitchFamily="34" charset="0"/>
                <a:ea typeface="Sofia Sans Extra Condensed ExtraBold" pitchFamily="34" charset="-122"/>
                <a:cs typeface="Sofia Sans Extra Condensed ExtraBold" pitchFamily="34" charset="-120"/>
              </a:rPr>
              <a:t>THANK YOU FOR YOUR ATTENTION!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189" y="6226215"/>
            <a:ext cx="1173450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8" kern="100" dirty="0">
                <a:solidFill>
                  <a:srgbClr val="5660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BUILDERS · PS033 · [ADD REPOSITORY LINK]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189" y="1755080"/>
            <a:ext cx="11277318" cy="12700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189" y="2607866"/>
            <a:ext cx="11277318" cy="12700"/>
          </a:xfrm>
          <a:prstGeom prst="rect">
            <a:avLst/>
          </a:prstGeom>
          <a:solidFill>
            <a:srgbClr val="CFCEC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3460750"/>
            <a:ext cx="11277318" cy="12700"/>
          </a:xfrm>
          <a:prstGeom prst="rect">
            <a:avLst/>
          </a:prstGeom>
          <a:solidFill>
            <a:srgbClr val="CFCEC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2026-10-14T12:10:39Z</dcterms:created>
  <dcterms:modified xsi:type="dcterms:W3CDTF">2026-10-14T12:10:39Z</dcterms:modified>
</cp:coreProperties>
</file>